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JetBrains Mono" panose="020B0604020202020204" charset="0"/>
      <p:regular r:id="rId17"/>
      <p:bold r:id="rId18"/>
      <p:italic r:id="rId19"/>
      <p:boldItalic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  <p:embeddedFont>
      <p:font typeface="Urbanist Light" panose="020B0604020202020204" charset="0"/>
      <p:regular r:id="rId25"/>
      <p:bold r:id="rId26"/>
      <p:italic r:id="rId27"/>
      <p:boldItalic r:id="rId28"/>
    </p:embeddedFont>
    <p:embeddedFont>
      <p:font typeface="Urbanist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1160BC-E26F-483D-A9F6-16013B71FCC5}">
  <a:tblStyle styleId="{1C1160BC-E26F-483D-A9F6-16013B71FCC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7b281b62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7b281b62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gif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78004" y="1594544"/>
            <a:ext cx="5435991" cy="18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КУРСОВ ПРОЕКТ - ФМИ, СОФИЙСКИ УНИВЕРСИТЕТ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02850" y="1925984"/>
            <a:ext cx="10386298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Система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за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Семантично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Търсене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833812" y="3015555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и извличане на продукти в онлайн магазин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030241" y="4409926"/>
            <a:ext cx="213151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Явор Йорданов Чамов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030241" y="4867126"/>
            <a:ext cx="2131516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Ф.Н. 4М13400787 | 2025/26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790700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Цел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Разработка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система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за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търсене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която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разбира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намерението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потребителя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само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ключовите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думи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771775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Проблемът: "Лексикална Пропаст"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5551140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Решение: Интеграция на </a:t>
            </a:r>
            <a:r>
              <a:rPr lang="en-US" sz="150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ПОЕЕ </a:t>
            </a:r>
            <a:r>
              <a:rPr lang="en-US" sz="1500" b="0" i="0" u="none" strike="noStrike" cap="none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и хибридно индексиране.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21751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Потребителите използват различни думи за едно и също нещо.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3969990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Пример: Търсене за "колело" 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срещу</a:t>
            </a: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 Продукт "велосипед".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441766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Традиционните методи (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съвпадение по ключови думи</a:t>
            </a: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 пропускат релевантни резултати.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Цел и Проблематика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175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699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1766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0140"/>
            <a:ext cx="3492549" cy="4926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360140"/>
            <a:ext cx="3492549" cy="4926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360140"/>
            <a:ext cx="3492549" cy="4926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16554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56749" y="2607915"/>
            <a:ext cx="2721902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Лексикален Подход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580257" y="3215580"/>
            <a:ext cx="147488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Базиран на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TF-IDF</a:t>
            </a: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16554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701138" y="2607915"/>
            <a:ext cx="278972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Семантичен Подход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225206" y="3215580"/>
            <a:ext cx="1741586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Базиран на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Word2Vec</a:t>
            </a: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299" y="16554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694460" y="2607915"/>
            <a:ext cx="235982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Хибриден Модел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714928" y="3215580"/>
            <a:ext cx="231889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Комбинация от двата метода.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17675" y="180781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152525" y="3813720"/>
            <a:ext cx="26162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Висока бързина.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52525" y="4261395"/>
            <a:ext cx="26162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Ефективен при точно съвпадение.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52525" y="5013870"/>
            <a:ext cx="26162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Недостатък: Не разбира синоними.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67400" y="18078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4930824" y="3813720"/>
            <a:ext cx="26162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Улавя контекста и значението.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930824" y="4566195"/>
            <a:ext cx="26162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Намира продукти без общи думи със заявката.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930824" y="5318670"/>
            <a:ext cx="2616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Повишава пълнотата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45699" y="18078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8709124" y="3813720"/>
            <a:ext cx="26162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Оптимален баланс.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709124" y="4261395"/>
            <a:ext cx="2616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Комбинира точни филтри (цена, марка</a:t>
            </a:r>
            <a:r>
              <a:rPr lang="en-US" sz="150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тегло, категория</a:t>
            </a: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 със семантично търсене.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Методология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6775" y="38137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6775" y="42613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6775" y="50138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45074" y="38137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45074" y="45661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45074" y="53186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23374" y="38137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23374" y="426139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850" y="771487"/>
            <a:ext cx="9736289" cy="53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2314575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Многослоен Модел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276031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Слой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Данни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Съхранение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CSV и 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ндекси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о</a:t>
            </a:r>
            <a:r>
              <a:rPr lang="bg-BG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бърнат индекс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Elasticsearch).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857250" y="3512790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Слой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bg-BG" sz="1500" b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изнес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bg-BG" sz="1500" b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л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огика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ОЕЕ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модул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емантично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обогатяване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Търсещ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механизъм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векторизация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857250" y="457006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Представителен Слой: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Уеб интерфейс, реализиран с Python (Flask).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Архитектура на Системата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603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127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7006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977354"/>
            <a:ext cx="5500687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Технологичен</a:t>
            </a:r>
            <a:r>
              <a:rPr lang="bg-BG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 набор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871019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Стратегии за Сигурност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35485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За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осигуряване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реалистичен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актуален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набор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от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данни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без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блокировки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1905000" y="1364849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Изпращане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HTTP GET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заявки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към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целевия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магазин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3057525" y="2107799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Синтактичен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анализ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HTML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структурата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навигация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1695450" y="2899469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Структуриране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данни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експорт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към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CSV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формат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857250" y="5154959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User-Agent </a:t>
            </a:r>
            <a:r>
              <a:rPr lang="bg-BG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заглавка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Симулация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стандартен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браузър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57249" y="5907434"/>
            <a:ext cx="5500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bg-BG" sz="1500" b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Скоростно ограничение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Изкуствено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забавяне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между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заявките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956619"/>
            <a:ext cx="7429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188714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Модул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за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Събиране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Данни</a:t>
            </a:r>
            <a:endParaRPr dirty="0"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2309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1451669"/>
            <a:ext cx="952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7556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204144"/>
            <a:ext cx="21050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280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5495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907434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8705"/>
            <a:ext cx="11049000" cy="45490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18"/>
          <p:cNvGraphicFramePr/>
          <p:nvPr>
            <p:extLst>
              <p:ext uri="{D42A27DB-BD31-4B8C-83A1-F6EECF244321}">
                <p14:modId xmlns:p14="http://schemas.microsoft.com/office/powerpoint/2010/main" val="1925199721"/>
              </p:ext>
            </p:extLst>
          </p:nvPr>
        </p:nvGraphicFramePr>
        <p:xfrm>
          <a:off x="581025" y="1558230"/>
          <a:ext cx="11029950" cy="4530050"/>
        </p:xfrm>
        <a:graphic>
          <a:graphicData uri="http://schemas.openxmlformats.org/drawingml/2006/table">
            <a:tbl>
              <a:tblPr firstRow="1" bandRow="1">
                <a:noFill/>
                <a:tableStyleId>{1C1160BC-E26F-483D-A9F6-16013B71FCC5}</a:tableStyleId>
              </a:tblPr>
              <a:tblGrid>
                <a:gridCol w="297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Поле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Тип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Описание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Уникален идентификатор на продукта.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title /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String / 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Заглавие и пълно текстово описание.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Float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Числова стойност за филтриране.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Марка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нормализирана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чрез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bg-BG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ОЕЕ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semantic_tags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List[String]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Автоматични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етикети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(напр. „</a:t>
                      </a:r>
                      <a:r>
                        <a:rPr lang="bg-BG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бюджетен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", „</a:t>
                      </a:r>
                      <a:r>
                        <a:rPr lang="bg-BG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лек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dependency_features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Синтактични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връзки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(напр. „</a:t>
                      </a:r>
                      <a:r>
                        <a:rPr lang="bg-BG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планински_велосипед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7" name="Google Shape;167;p18"/>
          <p:cNvSpPr/>
          <p:nvPr/>
        </p:nvSpPr>
        <p:spPr>
          <a:xfrm>
            <a:off x="581025" y="2140148"/>
            <a:ext cx="29729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554015" y="2140148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451276" y="2140148"/>
            <a:ext cx="6159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1025" y="2797373"/>
            <a:ext cx="29729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554015" y="2797373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451276" y="2797373"/>
            <a:ext cx="6159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81025" y="3454598"/>
            <a:ext cx="29729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554015" y="3454598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451276" y="3454598"/>
            <a:ext cx="6159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81025" y="4111823"/>
            <a:ext cx="29729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3554015" y="4111823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451276" y="4111823"/>
            <a:ext cx="6159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81025" y="4769048"/>
            <a:ext cx="29729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554015" y="4769048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451276" y="4769048"/>
            <a:ext cx="6159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81025" y="5426273"/>
            <a:ext cx="29729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554015" y="5426273"/>
            <a:ext cx="18972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451276" y="5426273"/>
            <a:ext cx="6159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Модел на Данните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0894"/>
            <a:ext cx="1905000" cy="228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9500" y="2870894"/>
            <a:ext cx="1905000" cy="228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2870894"/>
            <a:ext cx="1905000" cy="228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5500" y="2870894"/>
            <a:ext cx="1905000" cy="228570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/>
          <p:nvPr/>
        </p:nvSpPr>
        <p:spPr>
          <a:xfrm>
            <a:off x="571500" y="399469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409700" y="287089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723900" y="3289994"/>
            <a:ext cx="16002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1. Почистване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4029075"/>
            <a:ext cx="15240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Премахване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спец</a:t>
            </a:r>
            <a:r>
              <a:rPr lang="bg-BG" sz="12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иални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символи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и</a:t>
            </a:r>
            <a:r>
              <a:rPr lang="bg-BG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минаване към малки букви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99" name="Google Shape;199;p19"/>
          <p:cNvSpPr/>
          <p:nvPr/>
        </p:nvSpPr>
        <p:spPr>
          <a:xfrm>
            <a:off x="4457700" y="287089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3771900" y="3289994"/>
            <a:ext cx="16002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bg-BG" sz="2100" b="1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Стоп думи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3810000" y="4029075"/>
            <a:ext cx="1524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Премахване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съюзи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и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предлози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02" name="Google Shape;202;p19"/>
          <p:cNvSpPr/>
          <p:nvPr/>
        </p:nvSpPr>
        <p:spPr>
          <a:xfrm>
            <a:off x="7505700" y="287089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819900" y="3289994"/>
            <a:ext cx="16002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bg-BG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Коренът на думата</a:t>
            </a:r>
            <a:endParaRPr dirty="0"/>
          </a:p>
        </p:txBody>
      </p:sp>
      <p:sp>
        <p:nvSpPr>
          <p:cNvPr id="204" name="Google Shape;204;p19"/>
          <p:cNvSpPr txBox="1"/>
          <p:nvPr/>
        </p:nvSpPr>
        <p:spPr>
          <a:xfrm>
            <a:off x="6858000" y="4029075"/>
            <a:ext cx="1524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Свеждане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до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корен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SnowballStemmer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05" name="Google Shape;205;p19"/>
          <p:cNvSpPr/>
          <p:nvPr/>
        </p:nvSpPr>
        <p:spPr>
          <a:xfrm>
            <a:off x="10553700" y="287089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9867900" y="3289994"/>
            <a:ext cx="16002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lang="bg-BG" sz="2100" b="1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Запазване на маркери</a:t>
            </a:r>
            <a:endParaRPr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9906000" y="4029075"/>
            <a:ext cx="15240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Запазване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специални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bg-BG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маркери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(напр.</a:t>
            </a:r>
            <a:r>
              <a:rPr lang="bg-BG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планински_велосипе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Предварителна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Обработка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0975"/>
            <a:ext cx="5238750" cy="94863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571500" y="2707034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Проблем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71500" y="3190875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В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Описанията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често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липсват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абстрактни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понятия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които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потребителите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търсят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6381750" y="2505075"/>
            <a:ext cx="5500687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Решение</a:t>
            </a:r>
            <a:endParaRPr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6381750" y="2988915"/>
            <a:ext cx="523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Автоматично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генериране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метаданни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базиран</a:t>
            </a:r>
            <a:r>
              <a:rPr lang="bg-BG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правила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19" name="Google Shape;219;p20"/>
          <p:cNvSpPr txBox="1"/>
          <p:nvPr/>
        </p:nvSpPr>
        <p:spPr>
          <a:xfrm>
            <a:off x="771525" y="4343400"/>
            <a:ext cx="48387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Вход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 </a:t>
            </a:r>
            <a:r>
              <a:rPr lang="bg-BG" sz="1200" dirty="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Цена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45.00 }</a:t>
            </a:r>
            <a:endParaRPr dirty="0"/>
          </a:p>
        </p:txBody>
      </p:sp>
      <p:sp>
        <p:nvSpPr>
          <p:cNvPr id="220" name="Google Shape;220;p20"/>
          <p:cNvSpPr txBox="1"/>
          <p:nvPr/>
        </p:nvSpPr>
        <p:spPr>
          <a:xfrm>
            <a:off x="6667500" y="3789015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Цена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„</a:t>
            </a:r>
            <a:r>
              <a:rPr lang="bg-BG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5 </a:t>
            </a:r>
            <a:r>
              <a:rPr lang="en-US" sz="1500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евро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 →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таг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„</a:t>
            </a:r>
            <a:r>
              <a:rPr lang="bg-BG" sz="1500" i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бюджетен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„</a:t>
            </a:r>
            <a:r>
              <a:rPr lang="bg-BG" sz="1500" i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евтин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 dirty="0"/>
          </a:p>
        </p:txBody>
      </p:sp>
      <p:sp>
        <p:nvSpPr>
          <p:cNvPr id="221" name="Google Shape;221;p20"/>
          <p:cNvSpPr txBox="1"/>
          <p:nvPr/>
        </p:nvSpPr>
        <p:spPr>
          <a:xfrm>
            <a:off x="6667500" y="4236690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Тегло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„</a:t>
            </a:r>
            <a:r>
              <a:rPr lang="bg-BG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2кг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 →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таг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„</a:t>
            </a:r>
            <a:r>
              <a:rPr lang="bg-BG" sz="1500" i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лек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 dirty="0"/>
          </a:p>
        </p:txBody>
      </p:sp>
      <p:sp>
        <p:nvSpPr>
          <p:cNvPr id="222" name="Google Shape;222;p20"/>
          <p:cNvSpPr txBox="1"/>
          <p:nvPr/>
        </p:nvSpPr>
        <p:spPr>
          <a:xfrm>
            <a:off x="6667500" y="4684365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Категория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Мапинг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към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синоними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(„бягане“ и „джоггинг“)</a:t>
            </a:r>
            <a:endParaRPr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Семантично Обогатяване</a:t>
            </a:r>
            <a:endParaRPr/>
          </a:p>
        </p:txBody>
      </p:sp>
      <p:pic>
        <p:nvPicPr>
          <p:cNvPr id="224" name="Google Shape;22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890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2366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68436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1824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2048767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Elasticsearch &amp; TF-IDF</a:t>
            </a:r>
            <a:endParaRPr dirty="0"/>
          </a:p>
        </p:txBody>
      </p:sp>
      <p:sp>
        <p:nvSpPr>
          <p:cNvPr id="234" name="Google Shape;234;p21"/>
          <p:cNvSpPr txBox="1"/>
          <p:nvPr/>
        </p:nvSpPr>
        <p:spPr>
          <a:xfrm>
            <a:off x="571500" y="253260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Създаване на матрица документ-термин. Позволява приоритет на специфичните термини.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571500" y="3513683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Векторни</a:t>
            </a:r>
            <a:r>
              <a:rPr lang="en-US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1" i="0" u="none" strike="noStrike" cap="none" dirty="0" err="1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Представяния</a:t>
            </a:r>
            <a:endParaRPr dirty="0"/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3997523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Използване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bg-BG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трансформатор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(all-MiniLM-L6-v2) за </a:t>
            </a:r>
            <a:r>
              <a:rPr lang="bg-BG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превръщане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текст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в 384-измерни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вектори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4797623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bg-BG" sz="1500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Косинусовата близост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=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Скаларно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произведение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на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нормализирани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вектори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.</a:t>
            </a:r>
            <a:endParaRPr dirty="0"/>
          </a:p>
        </p:txBody>
      </p:sp>
      <p:pic>
        <p:nvPicPr>
          <p:cNvPr id="238" name="Google Shape;23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2777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571500" y="581332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Индексиране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и </a:t>
            </a:r>
            <a:r>
              <a:rPr lang="bg-BG" sz="36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в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екторни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bg-BG" sz="36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м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одели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571500" y="571500"/>
            <a:ext cx="520065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Анализ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bg-BG" sz="36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з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аявки</a:t>
            </a:r>
            <a:r>
              <a:rPr lang="bg-BG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чрез ПОЕЕ</a:t>
            </a:r>
            <a:endParaRPr dirty="0"/>
          </a:p>
        </p:txBody>
      </p:sp>
      <p:pic>
        <p:nvPicPr>
          <p:cNvPr id="246" name="Google Shape;24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571500" y="2171700"/>
            <a:ext cx="520065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 b="1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Извличане</a:t>
            </a:r>
            <a:r>
              <a:rPr lang="en-US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 &amp;</a:t>
            </a:r>
            <a:r>
              <a:rPr lang="bg-BG" sz="2100" b="1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 Разлагане</a:t>
            </a:r>
            <a:endParaRPr dirty="0"/>
          </a:p>
        </p:txBody>
      </p:sp>
      <p:sp>
        <p:nvSpPr>
          <p:cNvPr id="248" name="Google Shape;248;p22"/>
          <p:cNvSpPr txBox="1"/>
          <p:nvPr/>
        </p:nvSpPr>
        <p:spPr>
          <a:xfrm>
            <a:off x="857250" y="2670057"/>
            <a:ext cx="4667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b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Извличане на единици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Разпознаване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марки</a:t>
            </a:r>
            <a:r>
              <a:rPr lang="en-US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("Trek")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Ценови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ограничения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("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под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100 </a:t>
            </a:r>
            <a:r>
              <a:rPr lang="en-US" sz="1500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евро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").</a:t>
            </a:r>
            <a:endParaRPr dirty="0"/>
          </a:p>
        </p:txBody>
      </p:sp>
      <p:sp>
        <p:nvSpPr>
          <p:cNvPr id="249" name="Google Shape;249;p22"/>
          <p:cNvSpPr txBox="1"/>
          <p:nvPr/>
        </p:nvSpPr>
        <p:spPr>
          <a:xfrm>
            <a:off x="857250" y="3512790"/>
            <a:ext cx="4667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bg-BG" sz="1500" b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Разрешаване на неяснота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Различаване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"Giant"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Марка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 от "giant"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прилагателно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според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контекста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50" name="Google Shape;250;p22"/>
          <p:cNvSpPr txBox="1"/>
          <p:nvPr/>
        </p:nvSpPr>
        <p:spPr>
          <a:xfrm>
            <a:off x="857250" y="4265265"/>
            <a:ext cx="4667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Разбор на зависимости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spaCy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Разбиране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граматическата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структура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за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правилно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асоцииране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атрибути</a:t>
            </a:r>
            <a:r>
              <a:rPr lang="bg-BG" sz="1500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251" name="Google Shape;25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603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127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6526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7282" y="3032670"/>
            <a:ext cx="7577286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571500" y="215637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Хибридна формула за оценка на релевантността:</a:t>
            </a:r>
            <a:endParaRPr/>
          </a:p>
        </p:txBody>
      </p:sp>
      <p:pic>
        <p:nvPicPr>
          <p:cNvPr id="261" name="Google Shape;26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07332" y="3432720"/>
            <a:ext cx="6777186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71500" y="469002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Където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α</a:t>
            </a: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(алфа) е тегловен коефициент за балансиране между точно съвпадение и семантична близост.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571500" y="518532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C3AE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Пример: (0.6 * 0.230) + (0.4 * 0.503) = 0.3392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571500" y="571500"/>
            <a:ext cx="116014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Търсеща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Логика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bg-BG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Ранжиране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1824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571500" y="2157412"/>
            <a:ext cx="5500687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100" b="1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Казус</a:t>
            </a:r>
            <a:r>
              <a:rPr lang="en-US" sz="2100" b="1" i="0" u="none" strike="noStrike" cap="none" dirty="0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: "Trek mountain bike"</a:t>
            </a:r>
            <a:endParaRPr dirty="0"/>
          </a:p>
        </p:txBody>
      </p:sp>
      <p:sp>
        <p:nvSpPr>
          <p:cNvPr id="272" name="Google Shape;272;p24"/>
          <p:cNvSpPr txBox="1"/>
          <p:nvPr/>
        </p:nvSpPr>
        <p:spPr>
          <a:xfrm>
            <a:off x="702468" y="4532260"/>
            <a:ext cx="5238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Резултат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: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Намерен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"Electric Mountain Bike",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защото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описанието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съдържа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"Perfect for hills" (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семантично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близко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1500" b="0" i="0" u="none" strike="noStrike" cap="none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до</a:t>
            </a:r>
            <a:r>
              <a:rPr lang="en-US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"climb/steep")</a:t>
            </a:r>
            <a:r>
              <a:rPr lang="bg-BG" sz="1500" b="0" i="0" u="none" strike="noStrike" cap="none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и точо съвпадение по тагове </a:t>
            </a:r>
            <a:r>
              <a:rPr lang="en-US" sz="1500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bike, mountain, </a:t>
            </a:r>
            <a:r>
              <a:rPr lang="en-US" sz="1500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mountain_bike</a:t>
            </a:r>
            <a:r>
              <a:rPr lang="en-US" sz="1500" dirty="0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, </a:t>
            </a:r>
            <a:r>
              <a:rPr lang="en-US" sz="1500" dirty="0" err="1">
                <a:solidFill>
                  <a:srgbClr val="0284C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mtb</a:t>
            </a:r>
            <a:endParaRPr dirty="0"/>
          </a:p>
        </p:txBody>
      </p:sp>
      <p:sp>
        <p:nvSpPr>
          <p:cNvPr id="273" name="Google Shape;273;p24"/>
          <p:cNvSpPr txBox="1"/>
          <p:nvPr/>
        </p:nvSpPr>
        <p:spPr>
          <a:xfrm>
            <a:off x="1057275" y="262220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1200150" y="2589936"/>
            <a:ext cx="4667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b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Извличане на единици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"Trek"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става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филтър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bg-BG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Марка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75" name="Google Shape;275;p24"/>
          <p:cNvSpPr txBox="1"/>
          <p:nvPr/>
        </p:nvSpPr>
        <p:spPr>
          <a:xfrm>
            <a:off x="1057275" y="3033052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 dirty="0"/>
          </a:p>
        </p:txBody>
      </p:sp>
      <p:sp>
        <p:nvSpPr>
          <p:cNvPr id="276" name="Google Shape;276;p24"/>
          <p:cNvSpPr txBox="1"/>
          <p:nvPr/>
        </p:nvSpPr>
        <p:spPr>
          <a:xfrm>
            <a:off x="1143000" y="2927002"/>
            <a:ext cx="4667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Синтактични зависимости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"mountain bike" →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токен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mountain_bike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77" name="Google Shape;277;p24"/>
          <p:cNvSpPr txBox="1"/>
          <p:nvPr/>
        </p:nvSpPr>
        <p:spPr>
          <a:xfrm>
            <a:off x="1094739" y="373052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 dirty="0"/>
          </a:p>
        </p:txBody>
      </p:sp>
      <p:sp>
        <p:nvSpPr>
          <p:cNvPr id="278" name="Google Shape;278;p24"/>
          <p:cNvSpPr txBox="1"/>
          <p:nvPr/>
        </p:nvSpPr>
        <p:spPr>
          <a:xfrm>
            <a:off x="1123951" y="3650272"/>
            <a:ext cx="4667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b="1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Семантично обогатяване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Добавяне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на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синоними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climbing, steep, uphill,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mtb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79" name="Google Shape;279;p24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Експериментални Резултати</a:t>
            </a:r>
            <a:endParaRPr/>
          </a:p>
        </p:txBody>
      </p:sp>
      <p:pic>
        <p:nvPicPr>
          <p:cNvPr id="280" name="Google Shape;28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2700" y="2804075"/>
            <a:ext cx="5276849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1300" y="4388048"/>
            <a:ext cx="3219450" cy="154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4388048"/>
            <a:ext cx="3219450" cy="154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3587" y="571500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4641759" y="1428750"/>
            <a:ext cx="290833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Заключение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2228850" y="2465040"/>
            <a:ext cx="7734300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Системата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успешно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комбинира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детерминистични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правила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с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вероятностни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модели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,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постигайки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баланс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между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точност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и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семантично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разбиране</a:t>
            </a:r>
            <a:r>
              <a:rPr lang="en-US" sz="1950" b="0" i="0" u="none" strike="noStrike" cap="none">
                <a:solidFill>
                  <a:srgbClr val="33415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.</a:t>
            </a:r>
            <a:endParaRPr dirty="0"/>
          </a:p>
        </p:txBody>
      </p:sp>
      <p:sp>
        <p:nvSpPr>
          <p:cNvPr id="291" name="Google Shape;291;p25"/>
          <p:cNvSpPr txBox="1"/>
          <p:nvPr/>
        </p:nvSpPr>
        <p:spPr>
          <a:xfrm>
            <a:off x="3787824" y="4588073"/>
            <a:ext cx="1206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Постижения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2981325" y="5092898"/>
            <a:ext cx="28194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Работещ хибриден модел и успешна обработка на естествен език.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6906804" y="4588073"/>
            <a:ext cx="178819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Urbanist"/>
                <a:ea typeface="Urbanist"/>
                <a:cs typeface="Urbanist"/>
                <a:sym typeface="Urbanist"/>
              </a:rPr>
              <a:t>Бъдещо Развитие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6391275" y="5092898"/>
            <a:ext cx="28194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Внедряване на динамични адаптивни речници.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764</Words>
  <Application>Microsoft Office PowerPoint</Application>
  <PresentationFormat>Widescreen</PresentationFormat>
  <Paragraphs>111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JetBrains Mono</vt:lpstr>
      <vt:lpstr>Arial</vt:lpstr>
      <vt:lpstr>Urbanist Light</vt:lpstr>
      <vt:lpstr>Calibri</vt:lpstr>
      <vt:lpstr>Urbanist SemiBold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Yavor Chamov</cp:lastModifiedBy>
  <cp:revision>14</cp:revision>
  <dcterms:modified xsi:type="dcterms:W3CDTF">2026-02-13T06:12:13Z</dcterms:modified>
</cp:coreProperties>
</file>